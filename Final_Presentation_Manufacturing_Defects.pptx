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6" r:id="rId5"/>
    <p:sldId id="267" r:id="rId6"/>
    <p:sldId id="268" r:id="rId7"/>
    <p:sldId id="269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010" autoAdjust="0"/>
  </p:normalViewPr>
  <p:slideViewPr>
    <p:cSldViewPr snapToGrid="0" snapToObjects="1">
      <p:cViewPr varScale="1">
        <p:scale>
          <a:sx n="89" d="100"/>
          <a:sy n="89" d="100"/>
        </p:scale>
        <p:origin x="1281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yrone Muhammad" userId="d83c7d35218a5bc3" providerId="LiveId" clId="{4C269196-BB27-47DA-A52F-5589F119C7C3}"/>
    <pc:docChg chg="modSld">
      <pc:chgData name="Tyrone Muhammad" userId="d83c7d35218a5bc3" providerId="LiveId" clId="{4C269196-BB27-47DA-A52F-5589F119C7C3}" dt="2026-06-03T13:31:09.684" v="15" actId="732"/>
      <pc:docMkLst>
        <pc:docMk/>
      </pc:docMkLst>
      <pc:sldChg chg="modSp mod">
        <pc:chgData name="Tyrone Muhammad" userId="d83c7d35218a5bc3" providerId="LiveId" clId="{4C269196-BB27-47DA-A52F-5589F119C7C3}" dt="2026-06-03T13:27:05.058" v="13" actId="20577"/>
        <pc:sldMkLst>
          <pc:docMk/>
          <pc:sldMk cId="0" sldId="256"/>
        </pc:sldMkLst>
        <pc:spChg chg="mod">
          <ac:chgData name="Tyrone Muhammad" userId="d83c7d35218a5bc3" providerId="LiveId" clId="{4C269196-BB27-47DA-A52F-5589F119C7C3}" dt="2026-06-03T13:27:05.058" v="13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Tyrone Muhammad" userId="d83c7d35218a5bc3" providerId="LiveId" clId="{4C269196-BB27-47DA-A52F-5589F119C7C3}" dt="2026-06-03T13:27:57.053" v="14" actId="732"/>
        <pc:sldMkLst>
          <pc:docMk/>
          <pc:sldMk cId="2735465695" sldId="266"/>
        </pc:sldMkLst>
        <pc:picChg chg="mod modCrop">
          <ac:chgData name="Tyrone Muhammad" userId="d83c7d35218a5bc3" providerId="LiveId" clId="{4C269196-BB27-47DA-A52F-5589F119C7C3}" dt="2026-06-03T13:27:57.053" v="14" actId="732"/>
          <ac:picMkLst>
            <pc:docMk/>
            <pc:sldMk cId="2735465695" sldId="266"/>
            <ac:picMk id="7" creationId="{5320B984-8FB6-69AF-32AC-C3972BDCA692}"/>
          </ac:picMkLst>
        </pc:picChg>
      </pc:sldChg>
      <pc:sldChg chg="modSp mod">
        <pc:chgData name="Tyrone Muhammad" userId="d83c7d35218a5bc3" providerId="LiveId" clId="{4C269196-BB27-47DA-A52F-5589F119C7C3}" dt="2026-06-03T13:31:09.684" v="15" actId="732"/>
        <pc:sldMkLst>
          <pc:docMk/>
          <pc:sldMk cId="3119598187" sldId="267"/>
        </pc:sldMkLst>
        <pc:picChg chg="mod modCrop">
          <ac:chgData name="Tyrone Muhammad" userId="d83c7d35218a5bc3" providerId="LiveId" clId="{4C269196-BB27-47DA-A52F-5589F119C7C3}" dt="2026-06-03T13:31:09.684" v="15" actId="732"/>
          <ac:picMkLst>
            <pc:docMk/>
            <pc:sldMk cId="3119598187" sldId="267"/>
            <ac:picMk id="6" creationId="{2BCAF0E5-CEDE-9766-ACE3-4B70E4544540}"/>
          </ac:picMkLst>
        </pc:pic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4" Type="http://schemas.openxmlformats.org/officeDocument/2006/relationships/image" Target="../media/image1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4ED4ACF-D4E2-4394-BBED-4E5801ED85BF}" type="doc">
      <dgm:prSet loTypeId="urn:microsoft.com/office/officeart/2005/8/layout/vList2" loCatId="list" qsTypeId="urn:microsoft.com/office/officeart/2005/8/quickstyle/simple1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2FD62F62-19AD-47E3-B8B3-072F02AE9E15}">
      <dgm:prSet/>
      <dgm:spPr/>
      <dgm:t>
        <a:bodyPr/>
        <a:lstStyle/>
        <a:p>
          <a:r>
            <a:rPr lang="en-US"/>
            <a:t>Top Defects:</a:t>
          </a:r>
        </a:p>
      </dgm:t>
    </dgm:pt>
    <dgm:pt modelId="{0B6A1026-6415-4146-9FC4-FA73C2BA06D7}" type="parTrans" cxnId="{F026DC84-432D-4DEF-B21E-D5CE419F8016}">
      <dgm:prSet/>
      <dgm:spPr/>
      <dgm:t>
        <a:bodyPr/>
        <a:lstStyle/>
        <a:p>
          <a:endParaRPr lang="en-US"/>
        </a:p>
      </dgm:t>
    </dgm:pt>
    <dgm:pt modelId="{D673B666-F4F3-417F-A566-9BDDDD1B1A08}" type="sibTrans" cxnId="{F026DC84-432D-4DEF-B21E-D5CE419F8016}">
      <dgm:prSet/>
      <dgm:spPr/>
      <dgm:t>
        <a:bodyPr/>
        <a:lstStyle/>
        <a:p>
          <a:endParaRPr lang="en-US"/>
        </a:p>
      </dgm:t>
    </dgm:pt>
    <dgm:pt modelId="{8C699228-ED40-45D1-985D-8BB5B6EC9C59}">
      <dgm:prSet/>
      <dgm:spPr/>
      <dgm:t>
        <a:bodyPr/>
        <a:lstStyle/>
        <a:p>
          <a:r>
            <a:rPr lang="en-US"/>
            <a:t>- Solder Bridge (65 defects)</a:t>
          </a:r>
        </a:p>
      </dgm:t>
    </dgm:pt>
    <dgm:pt modelId="{D846F95F-B56F-401F-ABC6-1E95102CA7C2}" type="parTrans" cxnId="{82401963-AFBF-4908-9FE1-1167F5D09EF4}">
      <dgm:prSet/>
      <dgm:spPr/>
      <dgm:t>
        <a:bodyPr/>
        <a:lstStyle/>
        <a:p>
          <a:endParaRPr lang="en-US"/>
        </a:p>
      </dgm:t>
    </dgm:pt>
    <dgm:pt modelId="{DD871F3A-1755-472F-9180-E2446BB287EA}" type="sibTrans" cxnId="{82401963-AFBF-4908-9FE1-1167F5D09EF4}">
      <dgm:prSet/>
      <dgm:spPr/>
      <dgm:t>
        <a:bodyPr/>
        <a:lstStyle/>
        <a:p>
          <a:endParaRPr lang="en-US"/>
        </a:p>
      </dgm:t>
    </dgm:pt>
    <dgm:pt modelId="{6B637AC1-E5BA-47CF-9F0C-819E4482387F}">
      <dgm:prSet/>
      <dgm:spPr/>
      <dgm:t>
        <a:bodyPr/>
        <a:lstStyle/>
        <a:p>
          <a:r>
            <a:rPr lang="en-US" dirty="0"/>
            <a:t>- Excessive Solder (45 defects)</a:t>
          </a:r>
        </a:p>
      </dgm:t>
    </dgm:pt>
    <dgm:pt modelId="{C1AE8E67-9CCF-4353-B203-8C5BDCA36A5C}" type="parTrans" cxnId="{F426D166-3506-43A5-9625-EE38F4CE7E56}">
      <dgm:prSet/>
      <dgm:spPr/>
      <dgm:t>
        <a:bodyPr/>
        <a:lstStyle/>
        <a:p>
          <a:endParaRPr lang="en-US"/>
        </a:p>
      </dgm:t>
    </dgm:pt>
    <dgm:pt modelId="{119B5BA2-78F5-468E-A4D2-2664AB4904FD}" type="sibTrans" cxnId="{F426D166-3506-43A5-9625-EE38F4CE7E56}">
      <dgm:prSet/>
      <dgm:spPr/>
      <dgm:t>
        <a:bodyPr/>
        <a:lstStyle/>
        <a:p>
          <a:endParaRPr lang="en-US"/>
        </a:p>
      </dgm:t>
    </dgm:pt>
    <dgm:pt modelId="{43BCC6A2-E5FC-4C79-8265-F3575A3C80F9}">
      <dgm:prSet/>
      <dgm:spPr/>
      <dgm:t>
        <a:bodyPr/>
        <a:lstStyle/>
        <a:p>
          <a:r>
            <a:rPr lang="en-US"/>
            <a:t>- Missing Component (31 defects)</a:t>
          </a:r>
        </a:p>
      </dgm:t>
    </dgm:pt>
    <dgm:pt modelId="{ECD9F206-4AB1-4D18-9F22-42221CBB6019}" type="parTrans" cxnId="{68107D9A-6B48-41DF-9D13-EFBEA9A35DC1}">
      <dgm:prSet/>
      <dgm:spPr/>
      <dgm:t>
        <a:bodyPr/>
        <a:lstStyle/>
        <a:p>
          <a:endParaRPr lang="en-US"/>
        </a:p>
      </dgm:t>
    </dgm:pt>
    <dgm:pt modelId="{FE8695FF-E5EE-4924-B064-FCDF6D676156}" type="sibTrans" cxnId="{68107D9A-6B48-41DF-9D13-EFBEA9A35DC1}">
      <dgm:prSet/>
      <dgm:spPr/>
      <dgm:t>
        <a:bodyPr/>
        <a:lstStyle/>
        <a:p>
          <a:endParaRPr lang="en-US"/>
        </a:p>
      </dgm:t>
    </dgm:pt>
    <dgm:pt modelId="{92644F4B-0A38-4099-B7C4-581D58397D4C}">
      <dgm:prSet/>
      <dgm:spPr/>
      <dgm:t>
        <a:bodyPr/>
        <a:lstStyle/>
        <a:p>
          <a:r>
            <a:rPr lang="en-US"/>
            <a:t>These defects account for 46% of all issues, making them high-priority areas for improvement.</a:t>
          </a:r>
        </a:p>
      </dgm:t>
    </dgm:pt>
    <dgm:pt modelId="{C4171CC5-62B2-4900-AF9A-BA568189478B}" type="parTrans" cxnId="{0D803064-AD83-4435-A234-AC2D0E649082}">
      <dgm:prSet/>
      <dgm:spPr/>
      <dgm:t>
        <a:bodyPr/>
        <a:lstStyle/>
        <a:p>
          <a:endParaRPr lang="en-US"/>
        </a:p>
      </dgm:t>
    </dgm:pt>
    <dgm:pt modelId="{C09DB06C-CB22-4503-85C2-A9317F28D625}" type="sibTrans" cxnId="{0D803064-AD83-4435-A234-AC2D0E649082}">
      <dgm:prSet/>
      <dgm:spPr/>
      <dgm:t>
        <a:bodyPr/>
        <a:lstStyle/>
        <a:p>
          <a:endParaRPr lang="en-US"/>
        </a:p>
      </dgm:t>
    </dgm:pt>
    <dgm:pt modelId="{374E0D9E-18FF-4CE6-97CB-3BBD4B75AC2E}" type="pres">
      <dgm:prSet presAssocID="{C4ED4ACF-D4E2-4394-BBED-4E5801ED85BF}" presName="linear" presStyleCnt="0">
        <dgm:presLayoutVars>
          <dgm:animLvl val="lvl"/>
          <dgm:resizeHandles val="exact"/>
        </dgm:presLayoutVars>
      </dgm:prSet>
      <dgm:spPr/>
    </dgm:pt>
    <dgm:pt modelId="{CF1B7507-C4C6-4634-A57A-A284062B25D2}" type="pres">
      <dgm:prSet presAssocID="{2FD62F62-19AD-47E3-B8B3-072F02AE9E15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1F2AAC00-3B70-47A4-93D0-E7297B9A229F}" type="pres">
      <dgm:prSet presAssocID="{D673B666-F4F3-417F-A566-9BDDDD1B1A08}" presName="spacer" presStyleCnt="0"/>
      <dgm:spPr/>
    </dgm:pt>
    <dgm:pt modelId="{461F7CEC-B70C-4F7A-8436-FD650854B310}" type="pres">
      <dgm:prSet presAssocID="{8C699228-ED40-45D1-985D-8BB5B6EC9C5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F4BC71E-1B2F-4072-A009-A730DBB74005}" type="pres">
      <dgm:prSet presAssocID="{DD871F3A-1755-472F-9180-E2446BB287EA}" presName="spacer" presStyleCnt="0"/>
      <dgm:spPr/>
    </dgm:pt>
    <dgm:pt modelId="{1F89245C-32C5-49A3-AE39-43D37B2778D3}" type="pres">
      <dgm:prSet presAssocID="{6B637AC1-E5BA-47CF-9F0C-819E4482387F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A97BF16C-E241-4EFE-B951-C46B591C8456}" type="pres">
      <dgm:prSet presAssocID="{119B5BA2-78F5-468E-A4D2-2664AB4904FD}" presName="spacer" presStyleCnt="0"/>
      <dgm:spPr/>
    </dgm:pt>
    <dgm:pt modelId="{CE47A061-5A6C-459D-8332-BBAA97DADFD3}" type="pres">
      <dgm:prSet presAssocID="{43BCC6A2-E5FC-4C79-8265-F3575A3C80F9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7D84558-7099-4BAC-914A-C0BA16CFB29A}" type="pres">
      <dgm:prSet presAssocID="{FE8695FF-E5EE-4924-B064-FCDF6D676156}" presName="spacer" presStyleCnt="0"/>
      <dgm:spPr/>
    </dgm:pt>
    <dgm:pt modelId="{ADCB71AE-0E13-41F3-969E-498B5F1D4A72}" type="pres">
      <dgm:prSet presAssocID="{92644F4B-0A38-4099-B7C4-581D58397D4C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7FA65804-4E6C-44B4-B849-60B6030F2B85}" type="presOf" srcId="{8C699228-ED40-45D1-985D-8BB5B6EC9C59}" destId="{461F7CEC-B70C-4F7A-8436-FD650854B310}" srcOrd="0" destOrd="0" presId="urn:microsoft.com/office/officeart/2005/8/layout/vList2"/>
    <dgm:cxn modelId="{82401963-AFBF-4908-9FE1-1167F5D09EF4}" srcId="{C4ED4ACF-D4E2-4394-BBED-4E5801ED85BF}" destId="{8C699228-ED40-45D1-985D-8BB5B6EC9C59}" srcOrd="1" destOrd="0" parTransId="{D846F95F-B56F-401F-ABC6-1E95102CA7C2}" sibTransId="{DD871F3A-1755-472F-9180-E2446BB287EA}"/>
    <dgm:cxn modelId="{0D803064-AD83-4435-A234-AC2D0E649082}" srcId="{C4ED4ACF-D4E2-4394-BBED-4E5801ED85BF}" destId="{92644F4B-0A38-4099-B7C4-581D58397D4C}" srcOrd="4" destOrd="0" parTransId="{C4171CC5-62B2-4900-AF9A-BA568189478B}" sibTransId="{C09DB06C-CB22-4503-85C2-A9317F28D625}"/>
    <dgm:cxn modelId="{F426D166-3506-43A5-9625-EE38F4CE7E56}" srcId="{C4ED4ACF-D4E2-4394-BBED-4E5801ED85BF}" destId="{6B637AC1-E5BA-47CF-9F0C-819E4482387F}" srcOrd="2" destOrd="0" parTransId="{C1AE8E67-9CCF-4353-B203-8C5BDCA36A5C}" sibTransId="{119B5BA2-78F5-468E-A4D2-2664AB4904FD}"/>
    <dgm:cxn modelId="{E5FD6F6A-9F99-42F9-B3E0-27D2C87C9DA4}" type="presOf" srcId="{6B637AC1-E5BA-47CF-9F0C-819E4482387F}" destId="{1F89245C-32C5-49A3-AE39-43D37B2778D3}" srcOrd="0" destOrd="0" presId="urn:microsoft.com/office/officeart/2005/8/layout/vList2"/>
    <dgm:cxn modelId="{809B556C-98AC-4524-B0D0-8E25394131D4}" type="presOf" srcId="{43BCC6A2-E5FC-4C79-8265-F3575A3C80F9}" destId="{CE47A061-5A6C-459D-8332-BBAA97DADFD3}" srcOrd="0" destOrd="0" presId="urn:microsoft.com/office/officeart/2005/8/layout/vList2"/>
    <dgm:cxn modelId="{F026DC84-432D-4DEF-B21E-D5CE419F8016}" srcId="{C4ED4ACF-D4E2-4394-BBED-4E5801ED85BF}" destId="{2FD62F62-19AD-47E3-B8B3-072F02AE9E15}" srcOrd="0" destOrd="0" parTransId="{0B6A1026-6415-4146-9FC4-FA73C2BA06D7}" sibTransId="{D673B666-F4F3-417F-A566-9BDDDD1B1A08}"/>
    <dgm:cxn modelId="{5F77A08B-B4BE-4ADB-ABDE-E433E90283F1}" type="presOf" srcId="{2FD62F62-19AD-47E3-B8B3-072F02AE9E15}" destId="{CF1B7507-C4C6-4634-A57A-A284062B25D2}" srcOrd="0" destOrd="0" presId="urn:microsoft.com/office/officeart/2005/8/layout/vList2"/>
    <dgm:cxn modelId="{04650C8C-1610-4CED-9F86-FA933BB52E68}" type="presOf" srcId="{C4ED4ACF-D4E2-4394-BBED-4E5801ED85BF}" destId="{374E0D9E-18FF-4CE6-97CB-3BBD4B75AC2E}" srcOrd="0" destOrd="0" presId="urn:microsoft.com/office/officeart/2005/8/layout/vList2"/>
    <dgm:cxn modelId="{C9E02B8F-289D-4CB5-B2BF-99803FAB710B}" type="presOf" srcId="{92644F4B-0A38-4099-B7C4-581D58397D4C}" destId="{ADCB71AE-0E13-41F3-969E-498B5F1D4A72}" srcOrd="0" destOrd="0" presId="urn:microsoft.com/office/officeart/2005/8/layout/vList2"/>
    <dgm:cxn modelId="{68107D9A-6B48-41DF-9D13-EFBEA9A35DC1}" srcId="{C4ED4ACF-D4E2-4394-BBED-4E5801ED85BF}" destId="{43BCC6A2-E5FC-4C79-8265-F3575A3C80F9}" srcOrd="3" destOrd="0" parTransId="{ECD9F206-4AB1-4D18-9F22-42221CBB6019}" sibTransId="{FE8695FF-E5EE-4924-B064-FCDF6D676156}"/>
    <dgm:cxn modelId="{5B038F25-DDEE-4F27-BF42-AA57015C5074}" type="presParOf" srcId="{374E0D9E-18FF-4CE6-97CB-3BBD4B75AC2E}" destId="{CF1B7507-C4C6-4634-A57A-A284062B25D2}" srcOrd="0" destOrd="0" presId="urn:microsoft.com/office/officeart/2005/8/layout/vList2"/>
    <dgm:cxn modelId="{D07DC841-863C-45DC-A7FF-0989548AF65F}" type="presParOf" srcId="{374E0D9E-18FF-4CE6-97CB-3BBD4B75AC2E}" destId="{1F2AAC00-3B70-47A4-93D0-E7297B9A229F}" srcOrd="1" destOrd="0" presId="urn:microsoft.com/office/officeart/2005/8/layout/vList2"/>
    <dgm:cxn modelId="{62AF8D47-2B50-407E-863A-053AAF21F700}" type="presParOf" srcId="{374E0D9E-18FF-4CE6-97CB-3BBD4B75AC2E}" destId="{461F7CEC-B70C-4F7A-8436-FD650854B310}" srcOrd="2" destOrd="0" presId="urn:microsoft.com/office/officeart/2005/8/layout/vList2"/>
    <dgm:cxn modelId="{4DA999B8-F284-46EE-88DC-170972B6845A}" type="presParOf" srcId="{374E0D9E-18FF-4CE6-97CB-3BBD4B75AC2E}" destId="{6F4BC71E-1B2F-4072-A009-A730DBB74005}" srcOrd="3" destOrd="0" presId="urn:microsoft.com/office/officeart/2005/8/layout/vList2"/>
    <dgm:cxn modelId="{1F302E70-6882-4F08-833C-8FDAC2F5DCFA}" type="presParOf" srcId="{374E0D9E-18FF-4CE6-97CB-3BBD4B75AC2E}" destId="{1F89245C-32C5-49A3-AE39-43D37B2778D3}" srcOrd="4" destOrd="0" presId="urn:microsoft.com/office/officeart/2005/8/layout/vList2"/>
    <dgm:cxn modelId="{1C39A01B-B6A2-4EDF-A4CF-8A56ADD9A5E0}" type="presParOf" srcId="{374E0D9E-18FF-4CE6-97CB-3BBD4B75AC2E}" destId="{A97BF16C-E241-4EFE-B951-C46B591C8456}" srcOrd="5" destOrd="0" presId="urn:microsoft.com/office/officeart/2005/8/layout/vList2"/>
    <dgm:cxn modelId="{1B6C52BA-E5F5-4721-B111-421471D51F1E}" type="presParOf" srcId="{374E0D9E-18FF-4CE6-97CB-3BBD4B75AC2E}" destId="{CE47A061-5A6C-459D-8332-BBAA97DADFD3}" srcOrd="6" destOrd="0" presId="urn:microsoft.com/office/officeart/2005/8/layout/vList2"/>
    <dgm:cxn modelId="{5CC84800-CBBB-4587-8BAF-B7EAA6C2AE6F}" type="presParOf" srcId="{374E0D9E-18FF-4CE6-97CB-3BBD4B75AC2E}" destId="{47D84558-7099-4BAC-914A-C0BA16CFB29A}" srcOrd="7" destOrd="0" presId="urn:microsoft.com/office/officeart/2005/8/layout/vList2"/>
    <dgm:cxn modelId="{7FC3C04C-5BA4-4ED9-B57A-09E5A7B45D49}" type="presParOf" srcId="{374E0D9E-18FF-4CE6-97CB-3BBD4B75AC2E}" destId="{ADCB71AE-0E13-41F3-969E-498B5F1D4A72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9BFA82D-261D-4EA4-8927-86D8B6C5730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3B0B7D65-DBB5-47BA-AA27-D82EADA5B668}">
      <dgm:prSet/>
      <dgm:spPr/>
      <dgm:t>
        <a:bodyPr/>
        <a:lstStyle/>
        <a:p>
          <a:r>
            <a:rPr lang="en-US" dirty="0"/>
            <a:t>- Model 1: High rate of solder bridges, indicating machine alignment issues.</a:t>
          </a:r>
        </a:p>
      </dgm:t>
    </dgm:pt>
    <dgm:pt modelId="{B351FEBD-68E9-4A50-813D-A04559C36B72}" type="parTrans" cxnId="{82C355D5-0569-48A8-9482-A7721EE40750}">
      <dgm:prSet/>
      <dgm:spPr/>
      <dgm:t>
        <a:bodyPr/>
        <a:lstStyle/>
        <a:p>
          <a:endParaRPr lang="en-US"/>
        </a:p>
      </dgm:t>
    </dgm:pt>
    <dgm:pt modelId="{45660CFE-81C6-4967-9ADB-B93EE9797F88}" type="sibTrans" cxnId="{82C355D5-0569-48A8-9482-A7721EE40750}">
      <dgm:prSet/>
      <dgm:spPr/>
      <dgm:t>
        <a:bodyPr/>
        <a:lstStyle/>
        <a:p>
          <a:endParaRPr lang="en-US"/>
        </a:p>
      </dgm:t>
    </dgm:pt>
    <dgm:pt modelId="{C2EC28FD-D362-401C-961C-50ED8BCD06E9}">
      <dgm:prSet/>
      <dgm:spPr/>
      <dgm:t>
        <a:bodyPr/>
        <a:lstStyle/>
        <a:p>
          <a:r>
            <a:rPr lang="en-US" dirty="0"/>
            <a:t>- Model 2: Frequent insufficient solder defects, likely due to wave soldering inconsistencies.</a:t>
          </a:r>
        </a:p>
      </dgm:t>
    </dgm:pt>
    <dgm:pt modelId="{044D8C79-DF98-448E-94AF-28370C834A90}" type="parTrans" cxnId="{74A19B25-6DD4-4C1B-A789-3BFA17BBF5E3}">
      <dgm:prSet/>
      <dgm:spPr/>
      <dgm:t>
        <a:bodyPr/>
        <a:lstStyle/>
        <a:p>
          <a:endParaRPr lang="en-US"/>
        </a:p>
      </dgm:t>
    </dgm:pt>
    <dgm:pt modelId="{F2005957-58C4-4052-B5DC-9EF3FE23F43F}" type="sibTrans" cxnId="{74A19B25-6DD4-4C1B-A789-3BFA17BBF5E3}">
      <dgm:prSet/>
      <dgm:spPr/>
      <dgm:t>
        <a:bodyPr/>
        <a:lstStyle/>
        <a:p>
          <a:endParaRPr lang="en-US"/>
        </a:p>
      </dgm:t>
    </dgm:pt>
    <dgm:pt modelId="{B0F6F6CE-D6DA-4335-AB52-0A36667C079F}">
      <dgm:prSet/>
      <dgm:spPr/>
      <dgm:t>
        <a:bodyPr/>
        <a:lstStyle/>
        <a:p>
          <a:r>
            <a:rPr lang="en-US" dirty="0"/>
            <a:t>- Model 3: Mixed defects (lifted components, solder bridges), pointing to handling or process issues.</a:t>
          </a:r>
        </a:p>
      </dgm:t>
    </dgm:pt>
    <dgm:pt modelId="{61E948EE-6EB0-4236-9D34-55FFB4D94656}" type="parTrans" cxnId="{8A806AA3-9396-4BB2-9DF3-B72088B7B343}">
      <dgm:prSet/>
      <dgm:spPr/>
      <dgm:t>
        <a:bodyPr/>
        <a:lstStyle/>
        <a:p>
          <a:endParaRPr lang="en-US"/>
        </a:p>
      </dgm:t>
    </dgm:pt>
    <dgm:pt modelId="{742530C5-3C63-4293-97A9-B88345227545}" type="sibTrans" cxnId="{8A806AA3-9396-4BB2-9DF3-B72088B7B343}">
      <dgm:prSet/>
      <dgm:spPr/>
      <dgm:t>
        <a:bodyPr/>
        <a:lstStyle/>
        <a:p>
          <a:endParaRPr lang="en-US"/>
        </a:p>
      </dgm:t>
    </dgm:pt>
    <dgm:pt modelId="{F20643CD-0B6B-4314-B5FF-4E0EB340EBA6}">
      <dgm:prSet/>
      <dgm:spPr/>
      <dgm:t>
        <a:bodyPr/>
        <a:lstStyle/>
        <a:p>
          <a:r>
            <a:rPr lang="en-US"/>
            <a:t>Targeted improvements are needed for each line based on defect patterns.</a:t>
          </a:r>
        </a:p>
      </dgm:t>
    </dgm:pt>
    <dgm:pt modelId="{B209A278-35B0-4B82-9D60-2D21050BA8A1}" type="parTrans" cxnId="{7BF6EAB8-CD34-4E3B-B2EE-A372E6400D30}">
      <dgm:prSet/>
      <dgm:spPr/>
      <dgm:t>
        <a:bodyPr/>
        <a:lstStyle/>
        <a:p>
          <a:endParaRPr lang="en-US"/>
        </a:p>
      </dgm:t>
    </dgm:pt>
    <dgm:pt modelId="{3E820F5F-85BB-4730-91CD-E5DFFC8438E7}" type="sibTrans" cxnId="{7BF6EAB8-CD34-4E3B-B2EE-A372E6400D30}">
      <dgm:prSet/>
      <dgm:spPr/>
      <dgm:t>
        <a:bodyPr/>
        <a:lstStyle/>
        <a:p>
          <a:endParaRPr lang="en-US"/>
        </a:p>
      </dgm:t>
    </dgm:pt>
    <dgm:pt modelId="{846A5ED7-3774-410D-9F7B-9A6E62BBDF5D}" type="pres">
      <dgm:prSet presAssocID="{E9BFA82D-261D-4EA4-8927-86D8B6C57308}" presName="root" presStyleCnt="0">
        <dgm:presLayoutVars>
          <dgm:dir/>
          <dgm:resizeHandles val="exact"/>
        </dgm:presLayoutVars>
      </dgm:prSet>
      <dgm:spPr/>
    </dgm:pt>
    <dgm:pt modelId="{F343F886-F2F3-4EE1-A2A1-8AA5EE5036D2}" type="pres">
      <dgm:prSet presAssocID="{3B0B7D65-DBB5-47BA-AA27-D82EADA5B668}" presName="compNode" presStyleCnt="0"/>
      <dgm:spPr/>
    </dgm:pt>
    <dgm:pt modelId="{5064AEEE-F2D6-4A69-B232-A3103D6BE948}" type="pres">
      <dgm:prSet presAssocID="{3B0B7D65-DBB5-47BA-AA27-D82EADA5B668}" presName="bgRect" presStyleLbl="bgShp" presStyleIdx="0" presStyleCnt="4"/>
      <dgm:spPr/>
    </dgm:pt>
    <dgm:pt modelId="{C76018C7-A5A8-4B5B-842A-5FCE5F4DAE73}" type="pres">
      <dgm:prSet presAssocID="{3B0B7D65-DBB5-47BA-AA27-D82EADA5B668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37674B3D-276C-4EFD-9ECC-13C97F4F055B}" type="pres">
      <dgm:prSet presAssocID="{3B0B7D65-DBB5-47BA-AA27-D82EADA5B668}" presName="spaceRect" presStyleCnt="0"/>
      <dgm:spPr/>
    </dgm:pt>
    <dgm:pt modelId="{9EA6BC73-8684-42F6-B21C-03F4B30F33FF}" type="pres">
      <dgm:prSet presAssocID="{3B0B7D65-DBB5-47BA-AA27-D82EADA5B668}" presName="parTx" presStyleLbl="revTx" presStyleIdx="0" presStyleCnt="4">
        <dgm:presLayoutVars>
          <dgm:chMax val="0"/>
          <dgm:chPref val="0"/>
        </dgm:presLayoutVars>
      </dgm:prSet>
      <dgm:spPr/>
    </dgm:pt>
    <dgm:pt modelId="{4F688948-B544-46DA-9D3A-D402C95C9A9B}" type="pres">
      <dgm:prSet presAssocID="{45660CFE-81C6-4967-9ADB-B93EE9797F88}" presName="sibTrans" presStyleCnt="0"/>
      <dgm:spPr/>
    </dgm:pt>
    <dgm:pt modelId="{28A0E665-D475-447F-9335-D943AB80A389}" type="pres">
      <dgm:prSet presAssocID="{C2EC28FD-D362-401C-961C-50ED8BCD06E9}" presName="compNode" presStyleCnt="0"/>
      <dgm:spPr/>
    </dgm:pt>
    <dgm:pt modelId="{E7B95072-BA74-47B1-A148-EE751D436BB1}" type="pres">
      <dgm:prSet presAssocID="{C2EC28FD-D362-401C-961C-50ED8BCD06E9}" presName="bgRect" presStyleLbl="bgShp" presStyleIdx="1" presStyleCnt="4"/>
      <dgm:spPr/>
    </dgm:pt>
    <dgm:pt modelId="{A2EFEA88-86E5-481C-8D34-3A2D0F0DD65D}" type="pres">
      <dgm:prSet presAssocID="{C2EC28FD-D362-401C-961C-50ED8BCD06E9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A022C30C-323A-4A06-A1DE-5E35CD0305F8}" type="pres">
      <dgm:prSet presAssocID="{C2EC28FD-D362-401C-961C-50ED8BCD06E9}" presName="spaceRect" presStyleCnt="0"/>
      <dgm:spPr/>
    </dgm:pt>
    <dgm:pt modelId="{BE6BE6FA-B4ED-4D5A-B2AA-97E28940E006}" type="pres">
      <dgm:prSet presAssocID="{C2EC28FD-D362-401C-961C-50ED8BCD06E9}" presName="parTx" presStyleLbl="revTx" presStyleIdx="1" presStyleCnt="4">
        <dgm:presLayoutVars>
          <dgm:chMax val="0"/>
          <dgm:chPref val="0"/>
        </dgm:presLayoutVars>
      </dgm:prSet>
      <dgm:spPr/>
    </dgm:pt>
    <dgm:pt modelId="{4D8EF76F-8900-40D1-AE7E-15420A0089D7}" type="pres">
      <dgm:prSet presAssocID="{F2005957-58C4-4052-B5DC-9EF3FE23F43F}" presName="sibTrans" presStyleCnt="0"/>
      <dgm:spPr/>
    </dgm:pt>
    <dgm:pt modelId="{186C78E3-19C4-4993-96D8-4E39782A4A45}" type="pres">
      <dgm:prSet presAssocID="{B0F6F6CE-D6DA-4335-AB52-0A36667C079F}" presName="compNode" presStyleCnt="0"/>
      <dgm:spPr/>
    </dgm:pt>
    <dgm:pt modelId="{9708D79E-FEEC-409C-A00E-506317EFB196}" type="pres">
      <dgm:prSet presAssocID="{B0F6F6CE-D6DA-4335-AB52-0A36667C079F}" presName="bgRect" presStyleLbl="bgShp" presStyleIdx="2" presStyleCnt="4"/>
      <dgm:spPr/>
    </dgm:pt>
    <dgm:pt modelId="{7FA1FD50-7CC0-4D93-A511-9428B2BE09A0}" type="pres">
      <dgm:prSet presAssocID="{B0F6F6CE-D6DA-4335-AB52-0A36667C079F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idge scene"/>
        </a:ext>
      </dgm:extLst>
    </dgm:pt>
    <dgm:pt modelId="{E93734D4-FCD6-46A5-9649-461F981884D6}" type="pres">
      <dgm:prSet presAssocID="{B0F6F6CE-D6DA-4335-AB52-0A36667C079F}" presName="spaceRect" presStyleCnt="0"/>
      <dgm:spPr/>
    </dgm:pt>
    <dgm:pt modelId="{76F1D636-A1A9-43CB-BC20-45A65CBE7519}" type="pres">
      <dgm:prSet presAssocID="{B0F6F6CE-D6DA-4335-AB52-0A36667C079F}" presName="parTx" presStyleLbl="revTx" presStyleIdx="2" presStyleCnt="4">
        <dgm:presLayoutVars>
          <dgm:chMax val="0"/>
          <dgm:chPref val="0"/>
        </dgm:presLayoutVars>
      </dgm:prSet>
      <dgm:spPr/>
    </dgm:pt>
    <dgm:pt modelId="{B38ECB56-DF71-4F62-ACDD-266D4810052F}" type="pres">
      <dgm:prSet presAssocID="{742530C5-3C63-4293-97A9-B88345227545}" presName="sibTrans" presStyleCnt="0"/>
      <dgm:spPr/>
    </dgm:pt>
    <dgm:pt modelId="{273A9F6E-E73B-49A5-BE18-F4177F2F3AB4}" type="pres">
      <dgm:prSet presAssocID="{F20643CD-0B6B-4314-B5FF-4E0EB340EBA6}" presName="compNode" presStyleCnt="0"/>
      <dgm:spPr/>
    </dgm:pt>
    <dgm:pt modelId="{FCAB7AD1-761E-49E2-9F3A-6C4A0403046F}" type="pres">
      <dgm:prSet presAssocID="{F20643CD-0B6B-4314-B5FF-4E0EB340EBA6}" presName="bgRect" presStyleLbl="bgShp" presStyleIdx="3" presStyleCnt="4"/>
      <dgm:spPr/>
    </dgm:pt>
    <dgm:pt modelId="{B244F236-21E6-49BC-A4A0-8739CC824D93}" type="pres">
      <dgm:prSet presAssocID="{F20643CD-0B6B-4314-B5FF-4E0EB340EBA6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795C0C26-1E03-4B6A-B167-C3DC070B1DF5}" type="pres">
      <dgm:prSet presAssocID="{F20643CD-0B6B-4314-B5FF-4E0EB340EBA6}" presName="spaceRect" presStyleCnt="0"/>
      <dgm:spPr/>
    </dgm:pt>
    <dgm:pt modelId="{5B00C51B-0125-48D8-88D1-BAB246FCAF5E}" type="pres">
      <dgm:prSet presAssocID="{F20643CD-0B6B-4314-B5FF-4E0EB340EBA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4A19B25-6DD4-4C1B-A789-3BFA17BBF5E3}" srcId="{E9BFA82D-261D-4EA4-8927-86D8B6C57308}" destId="{C2EC28FD-D362-401C-961C-50ED8BCD06E9}" srcOrd="1" destOrd="0" parTransId="{044D8C79-DF98-448E-94AF-28370C834A90}" sibTransId="{F2005957-58C4-4052-B5DC-9EF3FE23F43F}"/>
    <dgm:cxn modelId="{0E461240-8BC2-4496-95C7-083A764D9279}" type="presOf" srcId="{3B0B7D65-DBB5-47BA-AA27-D82EADA5B668}" destId="{9EA6BC73-8684-42F6-B21C-03F4B30F33FF}" srcOrd="0" destOrd="0" presId="urn:microsoft.com/office/officeart/2018/2/layout/IconVerticalSolidList"/>
    <dgm:cxn modelId="{8A806AA3-9396-4BB2-9DF3-B72088B7B343}" srcId="{E9BFA82D-261D-4EA4-8927-86D8B6C57308}" destId="{B0F6F6CE-D6DA-4335-AB52-0A36667C079F}" srcOrd="2" destOrd="0" parTransId="{61E948EE-6EB0-4236-9D34-55FFB4D94656}" sibTransId="{742530C5-3C63-4293-97A9-B88345227545}"/>
    <dgm:cxn modelId="{411AB9A3-9718-4728-84E4-285E677D0632}" type="presOf" srcId="{F20643CD-0B6B-4314-B5FF-4E0EB340EBA6}" destId="{5B00C51B-0125-48D8-88D1-BAB246FCAF5E}" srcOrd="0" destOrd="0" presId="urn:microsoft.com/office/officeart/2018/2/layout/IconVerticalSolidList"/>
    <dgm:cxn modelId="{68ADADAA-0413-45FA-9E6C-1E99C8A3DB9E}" type="presOf" srcId="{E9BFA82D-261D-4EA4-8927-86D8B6C57308}" destId="{846A5ED7-3774-410D-9F7B-9A6E62BBDF5D}" srcOrd="0" destOrd="0" presId="urn:microsoft.com/office/officeart/2018/2/layout/IconVerticalSolidList"/>
    <dgm:cxn modelId="{7BF6EAB8-CD34-4E3B-B2EE-A372E6400D30}" srcId="{E9BFA82D-261D-4EA4-8927-86D8B6C57308}" destId="{F20643CD-0B6B-4314-B5FF-4E0EB340EBA6}" srcOrd="3" destOrd="0" parTransId="{B209A278-35B0-4B82-9D60-2D21050BA8A1}" sibTransId="{3E820F5F-85BB-4730-91CD-E5DFFC8438E7}"/>
    <dgm:cxn modelId="{FDEF6EBF-1BA0-4774-9A49-790AE2BFCC8B}" type="presOf" srcId="{C2EC28FD-D362-401C-961C-50ED8BCD06E9}" destId="{BE6BE6FA-B4ED-4D5A-B2AA-97E28940E006}" srcOrd="0" destOrd="0" presId="urn:microsoft.com/office/officeart/2018/2/layout/IconVerticalSolidList"/>
    <dgm:cxn modelId="{82C355D5-0569-48A8-9482-A7721EE40750}" srcId="{E9BFA82D-261D-4EA4-8927-86D8B6C57308}" destId="{3B0B7D65-DBB5-47BA-AA27-D82EADA5B668}" srcOrd="0" destOrd="0" parTransId="{B351FEBD-68E9-4A50-813D-A04559C36B72}" sibTransId="{45660CFE-81C6-4967-9ADB-B93EE9797F88}"/>
    <dgm:cxn modelId="{7900A8E3-5080-43F9-8A82-73082EF56A8B}" type="presOf" srcId="{B0F6F6CE-D6DA-4335-AB52-0A36667C079F}" destId="{76F1D636-A1A9-43CB-BC20-45A65CBE7519}" srcOrd="0" destOrd="0" presId="urn:microsoft.com/office/officeart/2018/2/layout/IconVerticalSolidList"/>
    <dgm:cxn modelId="{40938312-DDA7-439B-A85C-1DC80EF86CED}" type="presParOf" srcId="{846A5ED7-3774-410D-9F7B-9A6E62BBDF5D}" destId="{F343F886-F2F3-4EE1-A2A1-8AA5EE5036D2}" srcOrd="0" destOrd="0" presId="urn:microsoft.com/office/officeart/2018/2/layout/IconVerticalSolidList"/>
    <dgm:cxn modelId="{4938BF5F-A826-48C9-B4B5-0BF1CB7E9884}" type="presParOf" srcId="{F343F886-F2F3-4EE1-A2A1-8AA5EE5036D2}" destId="{5064AEEE-F2D6-4A69-B232-A3103D6BE948}" srcOrd="0" destOrd="0" presId="urn:microsoft.com/office/officeart/2018/2/layout/IconVerticalSolidList"/>
    <dgm:cxn modelId="{3DC07922-F881-42E6-A302-5F78D7DE5648}" type="presParOf" srcId="{F343F886-F2F3-4EE1-A2A1-8AA5EE5036D2}" destId="{C76018C7-A5A8-4B5B-842A-5FCE5F4DAE73}" srcOrd="1" destOrd="0" presId="urn:microsoft.com/office/officeart/2018/2/layout/IconVerticalSolidList"/>
    <dgm:cxn modelId="{171C372E-404C-43A6-8A2D-BD619BBC8EE7}" type="presParOf" srcId="{F343F886-F2F3-4EE1-A2A1-8AA5EE5036D2}" destId="{37674B3D-276C-4EFD-9ECC-13C97F4F055B}" srcOrd="2" destOrd="0" presId="urn:microsoft.com/office/officeart/2018/2/layout/IconVerticalSolidList"/>
    <dgm:cxn modelId="{5100F513-7F45-4AE0-9721-D665A68016F4}" type="presParOf" srcId="{F343F886-F2F3-4EE1-A2A1-8AA5EE5036D2}" destId="{9EA6BC73-8684-42F6-B21C-03F4B30F33FF}" srcOrd="3" destOrd="0" presId="urn:microsoft.com/office/officeart/2018/2/layout/IconVerticalSolidList"/>
    <dgm:cxn modelId="{DCDA27D6-06FE-48E6-9CD9-890D04CDB3F3}" type="presParOf" srcId="{846A5ED7-3774-410D-9F7B-9A6E62BBDF5D}" destId="{4F688948-B544-46DA-9D3A-D402C95C9A9B}" srcOrd="1" destOrd="0" presId="urn:microsoft.com/office/officeart/2018/2/layout/IconVerticalSolidList"/>
    <dgm:cxn modelId="{10664FE4-08B2-44C0-B8FD-F52C84D37775}" type="presParOf" srcId="{846A5ED7-3774-410D-9F7B-9A6E62BBDF5D}" destId="{28A0E665-D475-447F-9335-D943AB80A389}" srcOrd="2" destOrd="0" presId="urn:microsoft.com/office/officeart/2018/2/layout/IconVerticalSolidList"/>
    <dgm:cxn modelId="{5B653CAF-3BAE-49E3-8C02-F16509032D63}" type="presParOf" srcId="{28A0E665-D475-447F-9335-D943AB80A389}" destId="{E7B95072-BA74-47B1-A148-EE751D436BB1}" srcOrd="0" destOrd="0" presId="urn:microsoft.com/office/officeart/2018/2/layout/IconVerticalSolidList"/>
    <dgm:cxn modelId="{75A80667-0FF3-4DAC-B225-86F047C0045E}" type="presParOf" srcId="{28A0E665-D475-447F-9335-D943AB80A389}" destId="{A2EFEA88-86E5-481C-8D34-3A2D0F0DD65D}" srcOrd="1" destOrd="0" presId="urn:microsoft.com/office/officeart/2018/2/layout/IconVerticalSolidList"/>
    <dgm:cxn modelId="{1C23146B-3319-4147-BAF3-5AE44323226A}" type="presParOf" srcId="{28A0E665-D475-447F-9335-D943AB80A389}" destId="{A022C30C-323A-4A06-A1DE-5E35CD0305F8}" srcOrd="2" destOrd="0" presId="urn:microsoft.com/office/officeart/2018/2/layout/IconVerticalSolidList"/>
    <dgm:cxn modelId="{2F448A57-1C26-4E54-B357-8460415AFBD5}" type="presParOf" srcId="{28A0E665-D475-447F-9335-D943AB80A389}" destId="{BE6BE6FA-B4ED-4D5A-B2AA-97E28940E006}" srcOrd="3" destOrd="0" presId="urn:microsoft.com/office/officeart/2018/2/layout/IconVerticalSolidList"/>
    <dgm:cxn modelId="{01E1ABB6-5CC0-4358-ABC6-16E063A74E68}" type="presParOf" srcId="{846A5ED7-3774-410D-9F7B-9A6E62BBDF5D}" destId="{4D8EF76F-8900-40D1-AE7E-15420A0089D7}" srcOrd="3" destOrd="0" presId="urn:microsoft.com/office/officeart/2018/2/layout/IconVerticalSolidList"/>
    <dgm:cxn modelId="{B7F01C07-9E02-465F-9490-A2C152239E13}" type="presParOf" srcId="{846A5ED7-3774-410D-9F7B-9A6E62BBDF5D}" destId="{186C78E3-19C4-4993-96D8-4E39782A4A45}" srcOrd="4" destOrd="0" presId="urn:microsoft.com/office/officeart/2018/2/layout/IconVerticalSolidList"/>
    <dgm:cxn modelId="{2CC843B7-AA4A-4387-858E-37A9AF0E4CE6}" type="presParOf" srcId="{186C78E3-19C4-4993-96D8-4E39782A4A45}" destId="{9708D79E-FEEC-409C-A00E-506317EFB196}" srcOrd="0" destOrd="0" presId="urn:microsoft.com/office/officeart/2018/2/layout/IconVerticalSolidList"/>
    <dgm:cxn modelId="{DD16655E-75DE-439F-808E-F9EC5D462902}" type="presParOf" srcId="{186C78E3-19C4-4993-96D8-4E39782A4A45}" destId="{7FA1FD50-7CC0-4D93-A511-9428B2BE09A0}" srcOrd="1" destOrd="0" presId="urn:microsoft.com/office/officeart/2018/2/layout/IconVerticalSolidList"/>
    <dgm:cxn modelId="{B0463BC4-946F-4856-9778-999EA4916390}" type="presParOf" srcId="{186C78E3-19C4-4993-96D8-4E39782A4A45}" destId="{E93734D4-FCD6-46A5-9649-461F981884D6}" srcOrd="2" destOrd="0" presId="urn:microsoft.com/office/officeart/2018/2/layout/IconVerticalSolidList"/>
    <dgm:cxn modelId="{674441EC-8C24-4AF3-942C-095E7CB31928}" type="presParOf" srcId="{186C78E3-19C4-4993-96D8-4E39782A4A45}" destId="{76F1D636-A1A9-43CB-BC20-45A65CBE7519}" srcOrd="3" destOrd="0" presId="urn:microsoft.com/office/officeart/2018/2/layout/IconVerticalSolidList"/>
    <dgm:cxn modelId="{C613B6D1-BA9B-404C-9EDB-71FC086FABDD}" type="presParOf" srcId="{846A5ED7-3774-410D-9F7B-9A6E62BBDF5D}" destId="{B38ECB56-DF71-4F62-ACDD-266D4810052F}" srcOrd="5" destOrd="0" presId="urn:microsoft.com/office/officeart/2018/2/layout/IconVerticalSolidList"/>
    <dgm:cxn modelId="{A98739E3-E7FC-460C-BD4B-F0B420C27DF3}" type="presParOf" srcId="{846A5ED7-3774-410D-9F7B-9A6E62BBDF5D}" destId="{273A9F6E-E73B-49A5-BE18-F4177F2F3AB4}" srcOrd="6" destOrd="0" presId="urn:microsoft.com/office/officeart/2018/2/layout/IconVerticalSolidList"/>
    <dgm:cxn modelId="{7A67122E-6FAA-49B7-BA18-28B400D918FC}" type="presParOf" srcId="{273A9F6E-E73B-49A5-BE18-F4177F2F3AB4}" destId="{FCAB7AD1-761E-49E2-9F3A-6C4A0403046F}" srcOrd="0" destOrd="0" presId="urn:microsoft.com/office/officeart/2018/2/layout/IconVerticalSolidList"/>
    <dgm:cxn modelId="{AB257778-26F5-4026-8A00-43B8C994E24E}" type="presParOf" srcId="{273A9F6E-E73B-49A5-BE18-F4177F2F3AB4}" destId="{B244F236-21E6-49BC-A4A0-8739CC824D93}" srcOrd="1" destOrd="0" presId="urn:microsoft.com/office/officeart/2018/2/layout/IconVerticalSolidList"/>
    <dgm:cxn modelId="{9AB24A69-033A-4DA6-A3C0-B24A91D7973A}" type="presParOf" srcId="{273A9F6E-E73B-49A5-BE18-F4177F2F3AB4}" destId="{795C0C26-1E03-4B6A-B167-C3DC070B1DF5}" srcOrd="2" destOrd="0" presId="urn:microsoft.com/office/officeart/2018/2/layout/IconVerticalSolidList"/>
    <dgm:cxn modelId="{12AA683E-7431-4E4E-AA32-6370C978C2B4}" type="presParOf" srcId="{273A9F6E-E73B-49A5-BE18-F4177F2F3AB4}" destId="{5B00C51B-0125-48D8-88D1-BAB246FCAF5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1B7507-C4C6-4634-A57A-A284062B25D2}">
      <dsp:nvSpPr>
        <dsp:cNvPr id="0" name=""/>
        <dsp:cNvSpPr/>
      </dsp:nvSpPr>
      <dsp:spPr>
        <a:xfrm>
          <a:off x="0" y="33107"/>
          <a:ext cx="2268977" cy="1061406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Top Defects:</a:t>
          </a:r>
        </a:p>
      </dsp:txBody>
      <dsp:txXfrm>
        <a:off x="51814" y="84921"/>
        <a:ext cx="2165349" cy="957778"/>
      </dsp:txXfrm>
    </dsp:sp>
    <dsp:sp modelId="{461F7CEC-B70C-4F7A-8436-FD650854B310}">
      <dsp:nvSpPr>
        <dsp:cNvPr id="0" name=""/>
        <dsp:cNvSpPr/>
      </dsp:nvSpPr>
      <dsp:spPr>
        <a:xfrm>
          <a:off x="0" y="1137713"/>
          <a:ext cx="2268977" cy="1061406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Solder Bridge (65 defects)</a:t>
          </a:r>
        </a:p>
      </dsp:txBody>
      <dsp:txXfrm>
        <a:off x="51814" y="1189527"/>
        <a:ext cx="2165349" cy="957778"/>
      </dsp:txXfrm>
    </dsp:sp>
    <dsp:sp modelId="{1F89245C-32C5-49A3-AE39-43D37B2778D3}">
      <dsp:nvSpPr>
        <dsp:cNvPr id="0" name=""/>
        <dsp:cNvSpPr/>
      </dsp:nvSpPr>
      <dsp:spPr>
        <a:xfrm>
          <a:off x="0" y="2242320"/>
          <a:ext cx="2268977" cy="1061406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- Excessive Solder (45 defects)</a:t>
          </a:r>
        </a:p>
      </dsp:txBody>
      <dsp:txXfrm>
        <a:off x="51814" y="2294134"/>
        <a:ext cx="2165349" cy="957778"/>
      </dsp:txXfrm>
    </dsp:sp>
    <dsp:sp modelId="{CE47A061-5A6C-459D-8332-BBAA97DADFD3}">
      <dsp:nvSpPr>
        <dsp:cNvPr id="0" name=""/>
        <dsp:cNvSpPr/>
      </dsp:nvSpPr>
      <dsp:spPr>
        <a:xfrm>
          <a:off x="0" y="3346926"/>
          <a:ext cx="2268977" cy="1061406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Missing Component (31 defects)</a:t>
          </a:r>
        </a:p>
      </dsp:txBody>
      <dsp:txXfrm>
        <a:off x="51814" y="3398740"/>
        <a:ext cx="2165349" cy="957778"/>
      </dsp:txXfrm>
    </dsp:sp>
    <dsp:sp modelId="{ADCB71AE-0E13-41F3-969E-498B5F1D4A72}">
      <dsp:nvSpPr>
        <dsp:cNvPr id="0" name=""/>
        <dsp:cNvSpPr/>
      </dsp:nvSpPr>
      <dsp:spPr>
        <a:xfrm>
          <a:off x="0" y="4451533"/>
          <a:ext cx="2268977" cy="1061406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These defects account for 46% of all issues, making them high-priority areas for improvement.</a:t>
          </a:r>
        </a:p>
      </dsp:txBody>
      <dsp:txXfrm>
        <a:off x="51814" y="4503347"/>
        <a:ext cx="2165349" cy="9577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64AEEE-F2D6-4A69-B232-A3103D6BE948}">
      <dsp:nvSpPr>
        <dsp:cNvPr id="0" name=""/>
        <dsp:cNvSpPr/>
      </dsp:nvSpPr>
      <dsp:spPr>
        <a:xfrm>
          <a:off x="0" y="1808"/>
          <a:ext cx="7886700" cy="91661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6018C7-A5A8-4B5B-842A-5FCE5F4DAE73}">
      <dsp:nvSpPr>
        <dsp:cNvPr id="0" name=""/>
        <dsp:cNvSpPr/>
      </dsp:nvSpPr>
      <dsp:spPr>
        <a:xfrm>
          <a:off x="277275" y="208046"/>
          <a:ext cx="504136" cy="5041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A6BC73-8684-42F6-B21C-03F4B30F33FF}">
      <dsp:nvSpPr>
        <dsp:cNvPr id="0" name=""/>
        <dsp:cNvSpPr/>
      </dsp:nvSpPr>
      <dsp:spPr>
        <a:xfrm>
          <a:off x="1058686" y="1808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- Model 1: High rate of solder bridges, indicating machine alignment issues.</a:t>
          </a:r>
        </a:p>
      </dsp:txBody>
      <dsp:txXfrm>
        <a:off x="1058686" y="1808"/>
        <a:ext cx="6828013" cy="916611"/>
      </dsp:txXfrm>
    </dsp:sp>
    <dsp:sp modelId="{E7B95072-BA74-47B1-A148-EE751D436BB1}">
      <dsp:nvSpPr>
        <dsp:cNvPr id="0" name=""/>
        <dsp:cNvSpPr/>
      </dsp:nvSpPr>
      <dsp:spPr>
        <a:xfrm>
          <a:off x="0" y="1147573"/>
          <a:ext cx="7886700" cy="91661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EFEA88-86E5-481C-8D34-3A2D0F0DD65D}">
      <dsp:nvSpPr>
        <dsp:cNvPr id="0" name=""/>
        <dsp:cNvSpPr/>
      </dsp:nvSpPr>
      <dsp:spPr>
        <a:xfrm>
          <a:off x="277275" y="1353811"/>
          <a:ext cx="504136" cy="5041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6BE6FA-B4ED-4D5A-B2AA-97E28940E006}">
      <dsp:nvSpPr>
        <dsp:cNvPr id="0" name=""/>
        <dsp:cNvSpPr/>
      </dsp:nvSpPr>
      <dsp:spPr>
        <a:xfrm>
          <a:off x="1058686" y="1147573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- Model 2: Frequent insufficient solder defects, likely due to wave soldering inconsistencies.</a:t>
          </a:r>
        </a:p>
      </dsp:txBody>
      <dsp:txXfrm>
        <a:off x="1058686" y="1147573"/>
        <a:ext cx="6828013" cy="916611"/>
      </dsp:txXfrm>
    </dsp:sp>
    <dsp:sp modelId="{9708D79E-FEEC-409C-A00E-506317EFB196}">
      <dsp:nvSpPr>
        <dsp:cNvPr id="0" name=""/>
        <dsp:cNvSpPr/>
      </dsp:nvSpPr>
      <dsp:spPr>
        <a:xfrm>
          <a:off x="0" y="2293338"/>
          <a:ext cx="7886700" cy="91661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A1FD50-7CC0-4D93-A511-9428B2BE09A0}">
      <dsp:nvSpPr>
        <dsp:cNvPr id="0" name=""/>
        <dsp:cNvSpPr/>
      </dsp:nvSpPr>
      <dsp:spPr>
        <a:xfrm>
          <a:off x="277275" y="2499576"/>
          <a:ext cx="504136" cy="5041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F1D636-A1A9-43CB-BC20-45A65CBE7519}">
      <dsp:nvSpPr>
        <dsp:cNvPr id="0" name=""/>
        <dsp:cNvSpPr/>
      </dsp:nvSpPr>
      <dsp:spPr>
        <a:xfrm>
          <a:off x="1058686" y="2293338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- Model 3: Mixed defects (lifted components, solder bridges), pointing to handling or process issues.</a:t>
          </a:r>
        </a:p>
      </dsp:txBody>
      <dsp:txXfrm>
        <a:off x="1058686" y="2293338"/>
        <a:ext cx="6828013" cy="916611"/>
      </dsp:txXfrm>
    </dsp:sp>
    <dsp:sp modelId="{FCAB7AD1-761E-49E2-9F3A-6C4A0403046F}">
      <dsp:nvSpPr>
        <dsp:cNvPr id="0" name=""/>
        <dsp:cNvSpPr/>
      </dsp:nvSpPr>
      <dsp:spPr>
        <a:xfrm>
          <a:off x="0" y="3439103"/>
          <a:ext cx="7886700" cy="91661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44F236-21E6-49BC-A4A0-8739CC824D93}">
      <dsp:nvSpPr>
        <dsp:cNvPr id="0" name=""/>
        <dsp:cNvSpPr/>
      </dsp:nvSpPr>
      <dsp:spPr>
        <a:xfrm>
          <a:off x="277275" y="3645341"/>
          <a:ext cx="504136" cy="5041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00C51B-0125-48D8-88D1-BAB246FCAF5E}">
      <dsp:nvSpPr>
        <dsp:cNvPr id="0" name=""/>
        <dsp:cNvSpPr/>
      </dsp:nvSpPr>
      <dsp:spPr>
        <a:xfrm>
          <a:off x="1058686" y="3439103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Targeted improvements are needed for each line based on defect patterns.</a:t>
          </a:r>
        </a:p>
      </dsp:txBody>
      <dsp:txXfrm>
        <a:off x="1058686" y="3439103"/>
        <a:ext cx="6828013" cy="9166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9E135F-0C15-420E-B2CB-978C4DCBC93D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43F50A-2598-47DA-A36D-4D7DC0FF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498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Welcome to my presentation on Manufacturing Defect Analysis.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/>
              <a:t>This project focuses on identifying and reducing defects in the welding process of electronic boards.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43F50A-2598-47DA-A36D-4D7DC0FF149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1257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Manual Finish area has been experiencing rising welding defects, impacting production quality and efficiency.</a:t>
            </a:r>
          </a:p>
          <a:p>
            <a:r>
              <a:rPr lang="en-US" dirty="0"/>
              <a:t>Our goal is to identify the key defects and provide data-driven solutions to improve the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43F50A-2598-47DA-A36D-4D7DC0FF149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4221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A Pareto analysis showed that solder bridges, excessive solder, and missing components account for 46% of defects.</a:t>
            </a:r>
          </a:p>
          <a:p>
            <a:r>
              <a:rPr lang="en-US" b="0" dirty="0"/>
              <a:t>Addressing these key issues will lead to major improvements.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43F50A-2598-47DA-A36D-4D7DC0FF149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9710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Additional monitoring dashboards have been developed to highlight defects and trends across models. These dashboards are interactive to pinpoint models or defect as desired.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43F50A-2598-47DA-A36D-4D7DC0FF149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301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determine whether defect rates differ across production lines, we performed a </a:t>
            </a:r>
            <a:r>
              <a:rPr lang="en-US" b="1" dirty="0"/>
              <a:t>hypothesis test using one-way </a:t>
            </a:r>
            <a:r>
              <a:rPr lang="en-US" b="1" dirty="0" err="1"/>
              <a:t>ANOVA</a:t>
            </a:r>
            <a:r>
              <a:rPr lang="en-US" dirty="0" err="1"/>
              <a:t>.</a:t>
            </a:r>
            <a:r>
              <a:rPr lang="en-US" b="1" dirty="0" err="1"/>
              <a:t>Null</a:t>
            </a:r>
            <a:r>
              <a:rPr lang="en-US" b="1" dirty="0"/>
              <a:t> Hypothesis (H₀):</a:t>
            </a:r>
            <a:r>
              <a:rPr lang="en-US" dirty="0"/>
              <a:t> No significant difference in defect rates between production </a:t>
            </a:r>
            <a:r>
              <a:rPr lang="en-US" dirty="0" err="1"/>
              <a:t>lines.</a:t>
            </a:r>
            <a:r>
              <a:rPr lang="en-US" b="1" dirty="0" err="1"/>
              <a:t>Alternative</a:t>
            </a:r>
            <a:r>
              <a:rPr lang="en-US" b="1" dirty="0"/>
              <a:t> Hypothesis (Hₐ):</a:t>
            </a:r>
            <a:r>
              <a:rPr lang="en-US" dirty="0"/>
              <a:t> At least one production line has a significantly different defect rate.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ANOVA test showed a significant difference in defect rates between production lines</a:t>
            </a:r>
            <a:r>
              <a:rPr lang="en-US" dirty="0"/>
              <a:t>, meaning some lines perform worse than others.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43F50A-2598-47DA-A36D-4D7DC0FF149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7412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BDA14-4DAB-86A5-3D66-8CDD0842B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B35F4A-A97B-3414-ECAD-83A2DA9161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F6CC49-B2E7-5614-24CB-CCB335506A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Tukey’s HSD test</a:t>
            </a:r>
            <a:r>
              <a:rPr lang="en-US" dirty="0"/>
              <a:t> was conducted to identify which production lines </a:t>
            </a:r>
            <a:r>
              <a:rPr lang="en-US" dirty="0" err="1"/>
              <a:t>differ.</a:t>
            </a:r>
            <a:r>
              <a:rPr lang="en-US" b="1" dirty="0" err="1"/>
              <a:t>Findings</a:t>
            </a:r>
            <a:r>
              <a:rPr lang="en-US" b="1" dirty="0"/>
              <a:t>:</a:t>
            </a:r>
            <a:r>
              <a:rPr lang="en-US" dirty="0"/>
              <a:t> Model1 has significantly higher defect rates than Model2 and Model3 (p-values: 0.0363, 0.0409).</a:t>
            </a:r>
            <a:r>
              <a:rPr lang="en-US" b="1" dirty="0"/>
              <a:t>No significant difference</a:t>
            </a:r>
            <a:r>
              <a:rPr lang="en-US" dirty="0"/>
              <a:t> was found between Model2 and Model3 (p = 0.9975).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BDF25C-AC63-316F-51D6-E81454E027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43F50A-2598-47DA-A36D-4D7DC0FF149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2465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0" dirty="0"/>
              <a:t>A root cause analysis using a Fishbone Diagram identified six key factors contributing to defects: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/>
              <a:t>Methods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/>
              <a:t>Machines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/>
              <a:t>Materials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/>
              <a:t>Manpower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/>
              <a:t>Measurement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/>
              <a:t>Environment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43F50A-2598-47DA-A36D-4D7DC0FF149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9567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Model1 has the highest defect rate, indicating issues with machine calibration, operator training, or materials. Model 2 and Model 3 perform similarly and can serve as benchmarks.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43F50A-2598-47DA-A36D-4D7DC0FF149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4567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Improve machine maintenance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Enhance operator training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Implement stricter quality control measures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Monitor defect rates using real-time dashboards</a:t>
            </a:r>
          </a:p>
          <a:p>
            <a:endParaRPr lang="en-US" b="0" dirty="0"/>
          </a:p>
          <a:p>
            <a:r>
              <a:rPr lang="en-US" b="0" dirty="0"/>
              <a:t>These actions will help optimize Model1’s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43F50A-2598-47DA-A36D-4D7DC0FF149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3436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analysis has provided insights into defect trends and their root causes. By implementing these recommendations, the company can improve quality, efficiency, and cost savings. Thank you for your time. I welcome any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43F50A-2598-47DA-A36D-4D7DC0FF149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48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ublic.tableau.com/app/profile/tyrone.muhammad/viz/T_Muhammad_DAT_475_Proj_3A/TMuhammadDashboad1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ublic.tableau.com/app/profile/tyrone.muhammad/viz/T_Muhammad_DAT_475_Proj_3B/Dashboard2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8485" y="1122363"/>
            <a:ext cx="301752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3600"/>
              <a:t>Manufacturing Defects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8485" y="4872922"/>
            <a:ext cx="2949980" cy="1208141"/>
          </a:xfrm>
        </p:spPr>
        <p:txBody>
          <a:bodyPr>
            <a:normAutofit/>
          </a:bodyPr>
          <a:lstStyle/>
          <a:p>
            <a:pPr algn="l"/>
            <a:r>
              <a:rPr lang="en-US" sz="1700" dirty="0"/>
              <a:t>Tyrone Muhammad, BSDA. CPC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1653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4546920"/>
            <a:ext cx="30175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Video 4" descr="Box Packages">
            <a:extLst>
              <a:ext uri="{FF2B5EF4-FFF2-40B4-BE49-F238E27FC236}">
                <a16:creationId xmlns:a16="http://schemas.microsoft.com/office/drawing/2014/main" id="{012D056F-A7DC-BA1C-D1F1-7D7996A0DD5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12811" r="11975" b="-1"/>
          <a:stretch/>
        </p:blipFill>
        <p:spPr>
          <a:xfrm>
            <a:off x="3648456" y="1433293"/>
            <a:ext cx="5134772" cy="384015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8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649480"/>
            <a:ext cx="3646835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dirty="0"/>
              <a:t>The Manual Finish production area has experienced rising welding defects, failing to meet IPC-A-610E standards. Common defects include solder bridges, excessive solder, and lifted components, leading to compromised reliability and increased labor costs. A data-driven approach aims to reduce defects by 20% and improve production capacity.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6" name="Rectangle 145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0" name="Freeform: Shape 14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Pareto Analysis – Entire Facility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AAA659-4432-B52D-8D3E-8B29720386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2046"/>
          <a:stretch/>
        </p:blipFill>
        <p:spPr>
          <a:xfrm>
            <a:off x="6082126" y="2278725"/>
            <a:ext cx="2711832" cy="2312429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913074E-888E-721E-0C8A-7E56151824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9221958"/>
              </p:ext>
            </p:extLst>
          </p:nvPr>
        </p:nvGraphicFramePr>
        <p:xfrm>
          <a:off x="3436295" y="649480"/>
          <a:ext cx="2268977" cy="5546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FB2C67-6B42-6097-64C6-1A15ECFFA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6" name="Rectangle 145">
            <a:extLst>
              <a:ext uri="{FF2B5EF4-FFF2-40B4-BE49-F238E27FC236}">
                <a16:creationId xmlns:a16="http://schemas.microsoft.com/office/drawing/2014/main" id="{38ED9DA5-D5CD-EE8C-01C7-F4F112AD75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6FC5B04B-E63B-BB78-D75D-9599E1AD4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06A95B8C-F08F-67EA-E281-9530488C6B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9CE72A61-1319-EFFC-ED3E-A1FF486CF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0" name="Freeform: Shape 149">
            <a:extLst>
              <a:ext uri="{FF2B5EF4-FFF2-40B4-BE49-F238E27FC236}">
                <a16:creationId xmlns:a16="http://schemas.microsoft.com/office/drawing/2014/main" id="{C31B4371-294F-5508-A0B6-2D4A89421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B9569716-88F1-2BC7-687C-B664CAE924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513EDF-6C4A-5D92-9D92-38E17F595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 dirty="0">
                <a:solidFill>
                  <a:srgbClr val="FFFFFF"/>
                </a:solidFill>
              </a:rPr>
              <a:t>Tableau Dashboard 1 of 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20B984-8FB6-69AF-32AC-C3972BDCA6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609"/>
          <a:stretch>
            <a:fillRect/>
          </a:stretch>
        </p:blipFill>
        <p:spPr>
          <a:xfrm>
            <a:off x="3312926" y="586855"/>
            <a:ext cx="5115110" cy="542930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E734A77-1787-8329-0B98-ED3419A47726}"/>
              </a:ext>
            </a:extLst>
          </p:cNvPr>
          <p:cNvSpPr txBox="1"/>
          <p:nvPr/>
        </p:nvSpPr>
        <p:spPr>
          <a:xfrm>
            <a:off x="3070383" y="6150132"/>
            <a:ext cx="58994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4"/>
              </a:rPr>
              <a:t>https://public.tableau.com/app/profile/tyrone.muhammad/viz/T_Muhammad_DAT_475_Proj_3A/TMuhammadDashboad1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35465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7D2711-D0A1-346D-3B28-5A03DF18F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6" name="Rectangle 15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4" name="Freeform: Shape 163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744CFE-64BA-D3ED-FF89-A58EF6D7A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57" y="2767106"/>
            <a:ext cx="2645229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Tableau Dashboard 2 of 2 </a:t>
            </a:r>
            <a:b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Boxplot Comparisons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CAF0E5-CEDE-9766-ACE3-4B70E45445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071"/>
          <a:stretch>
            <a:fillRect/>
          </a:stretch>
        </p:blipFill>
        <p:spPr>
          <a:xfrm>
            <a:off x="3922697" y="581748"/>
            <a:ext cx="4582754" cy="55920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1116A90-3B7F-846B-6E17-7176F9035FCC}"/>
              </a:ext>
            </a:extLst>
          </p:cNvPr>
          <p:cNvSpPr txBox="1"/>
          <p:nvPr/>
        </p:nvSpPr>
        <p:spPr>
          <a:xfrm>
            <a:off x="3117477" y="6254294"/>
            <a:ext cx="59285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3"/>
              </a:rPr>
              <a:t>https://public.tableau.com/app/profile/tyrone.muhammad/viz/T_Muhammad_DAT_475_Proj_3B/Dashboard2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119598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66402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70175"/>
            <a:ext cx="9138997" cy="1590742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5265546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0001" y="5263483"/>
            <a:ext cx="9143999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86F3F9-BB50-5886-03FA-049D03111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5510253"/>
            <a:ext cx="7421963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Hypothesis Testing  (ANOVA Test)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239748-BBC1-233C-E2C3-7C8D1682A781}"/>
              </a:ext>
            </a:extLst>
          </p:cNvPr>
          <p:cNvSpPr txBox="1"/>
          <p:nvPr/>
        </p:nvSpPr>
        <p:spPr>
          <a:xfrm>
            <a:off x="1028700" y="3429000"/>
            <a:ext cx="6676112" cy="15241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marR="0" lvl="0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200" dirty="0">
                <a:effectLst/>
              </a:rPr>
              <a:t>The dataset DATAAnova2.csv was imported into R and examined to ensure proper structure.</a:t>
            </a:r>
          </a:p>
          <a:p>
            <a:pPr marL="342900" marR="0" lvl="0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200" dirty="0">
                <a:effectLst/>
              </a:rPr>
              <a:t>The dependent variable, Percentage (defect rate), was analyzed across the independent variable, Model (production lines).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</a:rPr>
              <a:t>A one-way ANOVA test was conducted at a 0.05 significance level to determine if there were significant differences in defect rates between production lines.</a:t>
            </a:r>
            <a:endParaRPr lang="en-US" sz="1200" dirty="0"/>
          </a:p>
        </p:txBody>
      </p:sp>
      <p:pic>
        <p:nvPicPr>
          <p:cNvPr id="7" name="Picture 6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1C3C1F38-2B18-467C-A49F-EFA0058144A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1303" b="50522"/>
          <a:stretch/>
        </p:blipFill>
        <p:spPr bwMode="auto">
          <a:xfrm>
            <a:off x="501359" y="195811"/>
            <a:ext cx="8141282" cy="29627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576507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5E5061-B6D6-257A-9FDA-8BCCC396B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71BCC571-CCB9-0FA5-2D79-71F5C003CF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CE1F2F-0CD8-3BB5-136B-F146A8935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66402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FF764AA-030E-FD9C-948C-7564C1E84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70175"/>
            <a:ext cx="9138997" cy="1590742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54179DC-C4E6-EEBF-CBB0-AA4AF8AE4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5265546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B8FF49E-D1F1-76B2-54E7-415AC074A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0001" y="5263483"/>
            <a:ext cx="9143999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F1F63D-D1FD-323D-613F-B899760C0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5510253"/>
            <a:ext cx="7421963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dirty="0">
                <a:solidFill>
                  <a:srgbClr val="FFFFFF"/>
                </a:solidFill>
              </a:rPr>
              <a:t>Additional Analysis – Tukey’s HSD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F1FD91-9435-0E9C-B2CD-F35DD75A6614}"/>
              </a:ext>
            </a:extLst>
          </p:cNvPr>
          <p:cNvSpPr txBox="1"/>
          <p:nvPr/>
        </p:nvSpPr>
        <p:spPr>
          <a:xfrm>
            <a:off x="1028700" y="3429000"/>
            <a:ext cx="6676112" cy="15241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algn="just"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Since the ANOVA test confirmed significant differences, a Tukey’s HSD test was performed to determine which production lines differed.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70C4F5-E914-54AA-0311-01665BE9D7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905" y="455553"/>
            <a:ext cx="5016190" cy="249307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633442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Fishbone Diagram – Root Cause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C233E3-339F-9B32-D93E-F6BE571C1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6821" y="1918367"/>
            <a:ext cx="5419311" cy="30212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r>
              <a:t>Production Line Comparison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EB285E9-86A1-71A1-786B-8CED509595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7004911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Key Findings and Next Steps</a:t>
            </a:r>
          </a:p>
        </p:txBody>
      </p:sp>
      <p:sp>
        <p:nvSpPr>
          <p:cNvPr id="2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sz="1700" dirty="0"/>
              <a:t>Key Findings:</a:t>
            </a:r>
          </a:p>
          <a:p>
            <a:r>
              <a:rPr sz="1700" dirty="0"/>
              <a:t>- Top 3 defects (solder bridges, excessive solder, lifted components) account for 82% of issues.</a:t>
            </a:r>
          </a:p>
          <a:p>
            <a:r>
              <a:rPr sz="1700" dirty="0"/>
              <a:t>- Root causes include process inconsistencies, equipment malfunctions, and material issues.</a:t>
            </a:r>
          </a:p>
          <a:p>
            <a:r>
              <a:rPr sz="1700" dirty="0"/>
              <a:t>- Defect patterns vary across production lines.</a:t>
            </a:r>
          </a:p>
          <a:p>
            <a:endParaRPr sz="1700" dirty="0"/>
          </a:p>
          <a:p>
            <a:pPr marL="0" indent="0">
              <a:buNone/>
            </a:pPr>
            <a:r>
              <a:rPr sz="1700" dirty="0"/>
              <a:t>Next Steps:</a:t>
            </a:r>
          </a:p>
          <a:p>
            <a:r>
              <a:rPr sz="1700" dirty="0"/>
              <a:t>- Standardize soldering processes.</a:t>
            </a:r>
          </a:p>
          <a:p>
            <a:r>
              <a:rPr sz="1700" dirty="0"/>
              <a:t>- Upgrade and maintain equipment.</a:t>
            </a:r>
          </a:p>
          <a:p>
            <a:r>
              <a:rPr sz="1700" dirty="0"/>
              <a:t>- Enhance operator training.</a:t>
            </a:r>
          </a:p>
          <a:p>
            <a:r>
              <a:rPr sz="1700" dirty="0"/>
              <a:t>- Implement real-time quality monitoring.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17E911-875F-4DE5-8699-99D9F1805A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9144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Questions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36295" y="649480"/>
            <a:ext cx="226897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dirty="0"/>
              <a:t>Thank you for your attention. I'm happy to answer any questions.</a:t>
            </a:r>
          </a:p>
        </p:txBody>
      </p:sp>
      <p:pic>
        <p:nvPicPr>
          <p:cNvPr id="5" name="Picture 4" descr="Different colored question marks">
            <a:extLst>
              <a:ext uri="{FF2B5EF4-FFF2-40B4-BE49-F238E27FC236}">
                <a16:creationId xmlns:a16="http://schemas.microsoft.com/office/drawing/2014/main" id="{C52B66DF-38E0-3218-3565-F237885F91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750" r="39136"/>
          <a:stretch/>
        </p:blipFill>
        <p:spPr>
          <a:xfrm>
            <a:off x="6082126" y="10"/>
            <a:ext cx="3061874" cy="68579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1642</TotalTime>
  <Words>811</Words>
  <Application>Microsoft Office PowerPoint</Application>
  <PresentationFormat>On-screen Show (4:3)</PresentationFormat>
  <Paragraphs>75</Paragraphs>
  <Slides>11</Slides>
  <Notes>10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Times New Roman</vt:lpstr>
      <vt:lpstr>Office Theme</vt:lpstr>
      <vt:lpstr>Manufacturing Defects Analysis</vt:lpstr>
      <vt:lpstr>Problem Statement</vt:lpstr>
      <vt:lpstr>Pareto Analysis – Entire Facility</vt:lpstr>
      <vt:lpstr>Tableau Dashboard 1 of 2</vt:lpstr>
      <vt:lpstr>Tableau Dashboard 2 of 2   Boxplot Comparisons</vt:lpstr>
      <vt:lpstr>Hypothesis Testing  (ANOVA Test)</vt:lpstr>
      <vt:lpstr>Additional Analysis – Tukey’s HSD</vt:lpstr>
      <vt:lpstr>Fishbone Diagram – Root Cause Analysis</vt:lpstr>
      <vt:lpstr>Production Line Comparison</vt:lpstr>
      <vt:lpstr>Key Findings and Next Steps</vt:lpstr>
      <vt:lpstr>Questions &amp; Discussion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Tyrone Muhammad</cp:lastModifiedBy>
  <cp:revision>1</cp:revision>
  <dcterms:created xsi:type="dcterms:W3CDTF">2013-01-27T09:14:16Z</dcterms:created>
  <dcterms:modified xsi:type="dcterms:W3CDTF">2026-06-03T13:31:18Z</dcterms:modified>
  <cp:category/>
</cp:coreProperties>
</file>